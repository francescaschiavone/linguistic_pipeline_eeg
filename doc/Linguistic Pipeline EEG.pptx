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74" r:id="rId7"/>
    <p:sldId id="262" r:id="rId8"/>
    <p:sldId id="264" r:id="rId9"/>
    <p:sldId id="263" r:id="rId10"/>
    <p:sldId id="276" r:id="rId11"/>
    <p:sldId id="277" r:id="rId12"/>
    <p:sldId id="278" r:id="rId13"/>
    <p:sldId id="279" r:id="rId14"/>
    <p:sldId id="280" r:id="rId15"/>
    <p:sldId id="281" r:id="rId16"/>
    <p:sldId id="284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377" autoAdjust="0"/>
  </p:normalViewPr>
  <p:slideViewPr>
    <p:cSldViewPr snapToGrid="0">
      <p:cViewPr varScale="1">
        <p:scale>
          <a:sx n="67" d="100"/>
          <a:sy n="67" d="100"/>
        </p:scale>
        <p:origin x="208" y="44"/>
      </p:cViewPr>
      <p:guideLst/>
    </p:cSldViewPr>
  </p:slideViewPr>
  <p:outlineViewPr>
    <p:cViewPr>
      <p:scale>
        <a:sx n="33" d="100"/>
        <a:sy n="33" d="100"/>
      </p:scale>
      <p:origin x="0" y="-50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0T15:47:16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1,'1023'0,"-912"5,178 33,-124-13,-51-10,36 7,172 1,-184-23,236 9,151 7,-221 0,-208-9,34 4,129 6,875-17,-520-1,-481-1,150 4,-264 1,0-1,0 2,0 1,-1 0,0 1,0 1,31 16,-39-18,1 0,20 5,-31-10,9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0T15:47:27.1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1,'1878'0,"-1601"17,-201-10,30 3,162 9,-150-20,190 10,-21 4,-154-9,184 33,-11 0,185-35,-251-4,1002 2,-1220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6:51.1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1,'1460'0,"-1437"1,0 1,29 7,-28-4,42 2,42-8,43 2,-141 1,0 1,0-1,0 1,0 1,0 0,-1 1,1-1,-1 2,9 6,-9-6,-1 0,1-1,0 0,1 0,-1-1,1-1,0 1,19 3,-14-8,-4-2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6:57.1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3,'68'0,"-21"-2,0 2,0 3,88 15,-48 1,128 11,125-25,-196-7,469 2,-594 1,0 1,0 1,0 1,-1 1,22 8,13 3,-15-3,-28-7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6:59.7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95,'493'0,"-430"-3,107-20,-23 3,18-1,-72 8,127-2,335 16,-535-1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7:02.0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9,'731'0,"-724"0,1 0,-1 0,13-4,-5-1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7:04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1,'998'0,"-992"0,0 0,-1 0,1 1,10 2,-3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2T08:57:07.8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48,'39'-2,"-1"-1,63-15,-63 9,0 3,63-3,266 10,-368-1,1 0,0 0,0 0,0 0,0 1,0-1,0 0,0 0,0 0,0 0,0 0,0 1,0-1,0 0,0 0,0 0,0 0,0 0,0 1,0-1,0 0,0 0,0 0,0 0,0 0,0 0,0 1,0-1,0 0,1 0,-1 0,0 0,0 0,0 0,0 0,0 1,0-1,0 0,1 0,-1 0,0 0,0 0,0 0,0 0,0 0,0 0,1 0,-1 0,0 0,0 0,0 0,0 0,0 0,1 0,-1 0,0 0,0 0,0 0,0 0,0 0,1 0,-1 0,0 0,0 0,0 0,0 0,0-1,0 1,1 0,-5 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4T11:55:18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53,'1156'0,"-957"-13,-3-1,927 15,-1119 0,0-1,0 0,0 0,0 0,0-1,0 0,0 1,0-1,0-1,0 1,0 0,-1-1,1 0,4-3,3-6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938C1-FB7D-40A5-B8FD-97E38441B4C0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01D4-166D-4D80-B26B-B5BFC5B1EE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07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Domanda 1 </a:t>
            </a:r>
            <a:r>
              <a:rPr lang="it-IT" dirty="0">
                <a:sym typeface="Wingdings" panose="05000000000000000000" pitchFamily="2" charset="2"/>
              </a:rPr>
              <a:t> meglio tutte le </a:t>
            </a:r>
            <a:r>
              <a:rPr lang="it-IT" dirty="0" err="1">
                <a:sym typeface="Wingdings" panose="05000000000000000000" pitchFamily="2" charset="2"/>
              </a:rPr>
              <a:t>featrures</a:t>
            </a:r>
            <a:r>
              <a:rPr lang="it-IT" dirty="0">
                <a:sym typeface="Wingdings" panose="05000000000000000000" pitchFamily="2" charset="2"/>
              </a:rPr>
              <a:t> in un unico csv/</a:t>
            </a:r>
            <a:r>
              <a:rPr lang="it-IT" dirty="0" err="1">
                <a:sym typeface="Wingdings" panose="05000000000000000000" pitchFamily="2" charset="2"/>
              </a:rPr>
              <a:t>excel</a:t>
            </a:r>
            <a:r>
              <a:rPr lang="it-IT" dirty="0">
                <a:sym typeface="Wingdings" panose="05000000000000000000" pitchFamily="2" charset="2"/>
              </a:rPr>
              <a:t> oppure un foglio = una feature?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01D4-166D-4D80-B26B-B5BFC5B1EE0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4803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01D4-166D-4D80-B26B-B5BFC5B1EE0B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046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26AF0C-26E3-D484-814F-09EA3257E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A74B5DC-5D7E-BB43-DB67-6429E1C78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E0CF95-0EE8-0E5F-46BA-43E83306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45447B-FC69-A193-A629-88C62CA9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52F5FC-B564-4D32-A4FB-ED72F276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003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F0640-3F14-E2B0-A929-DA0EE0D3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B39B99-C409-1996-7CC1-C33BC1C58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CBE3F1-05F2-561D-906D-D6C6C568A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505BE3-B032-58B5-4674-1031D738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3312AA-8374-A88F-A254-C948224D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72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6971A7-5CAC-D595-B2B5-B522BEAE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A4BB943-92E4-2E6B-02FF-90E129EA1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5593ED-B2B0-92AC-35FE-98D8B823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B789C4-6433-6A65-88D3-6EA4E01C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2DD67D-4206-7EF1-1158-01D5BC94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139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E996BE-09CF-826F-CB33-B6E16D29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209420-DF24-B4B4-280C-4EB6B1490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E15C024-D10F-6564-FE30-93A491CB2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F801DD9-4FE1-747C-F2D7-98B8408D3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BEE805-ACB6-4720-5534-28655CDD1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E004BFA-55CB-2689-ABFD-5659BFB8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58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9C196A-0CF0-A763-EF7B-94F656F3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71B731-7A8E-2C8B-462A-D2E70FD7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85A4AF-6C36-F52B-C456-81EC22709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451AE89-15DB-863B-38FE-8AFE3F9BA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2A966D5-697C-73D7-FAED-AE156F4A9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71D43FD-0A5C-F4F9-9AE6-C9C18E21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B4F0400-C7F6-B638-8B0B-44E6E5BB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C8A330A-957A-3964-EA49-30469A3C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057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4C330C-2419-AE9C-A6F6-D6D1807A6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733C30-8D50-35E0-1786-314AC4C4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56F4F0-47F8-1F8F-60C4-80FD5238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45822F-030C-D851-4B9C-36B780AB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8563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84CC9AE-5FFE-F33F-049C-177B9CBA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29A17C2-F944-CB44-9226-97EAD5DF5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B1B360-551B-471C-AE02-EEE59BB3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93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E0C98F-39A4-8FC0-E85B-94079DA5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115C9-5484-0D9F-5D2F-F08196DE1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3B9D4D5-A550-665A-4DF5-CDF144E23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F18C860-C0AF-282D-2707-6BDAE63A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2D6358-93C6-A702-B6BE-17E18FC5C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6ABD58-505C-F771-8728-7723CCFA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4FFB22-967A-3FEB-DDCE-06223748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A294A8-3605-B866-4653-2F1D8352D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0FEA108-5977-0437-643C-F82A5CB4E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E6814F-9C15-4692-AF55-06D01A4D8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BD52676-92C3-E26F-AEE1-586A8708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8FD4F8-F1E6-E357-5FCE-E46C6935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340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082E32-0A9B-4682-A101-81E5D9386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8F5638E-751B-934C-308E-56136896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13D9AA-8AE8-3E23-1A5B-617FFAF1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94DACF-23FC-8800-27E5-232CFA5F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A7D3E2-7A45-1CA3-9A48-2606D831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392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5817738-2E9E-98F4-72DF-16D4C756F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3C37CCD-E12C-1166-AF04-20B2F4445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6CAE02-6A6B-1C43-6FFD-491834DD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F03EDD-2963-8049-DB00-BFB382E2C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CA26F2-5B1C-7BF9-636B-CE309CBE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7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E112795-B986-39EE-9C02-BD5DD8E3F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892B02-E8C5-29B1-E845-A1729BF3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E84EC4-713F-25C9-E91B-C7CEC30A0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C10D5-F3AD-4783-B855-BA9961FAC06C}" type="datetimeFigureOut">
              <a:rPr lang="it-IT" smtClean="0"/>
              <a:t>24/09/2025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B2196B-0E20-587D-B1B2-E32D3A78B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F05D3B-E07E-6485-1335-9A97CBE4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C69F2-91E0-4D42-83A8-317E877BC5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60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larin.phonetik.uni-muenchen.de/BASWebServices/interface/TextAlig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nfordnlp.github.io/stanza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" Type="http://schemas.openxmlformats.org/officeDocument/2006/relationships/image" Target="../media/image11.png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7.png"/><Relationship Id="rId5" Type="http://schemas.openxmlformats.org/officeDocument/2006/relationships/customXml" Target="../ink/ink3.xml"/><Relationship Id="rId15" Type="http://schemas.openxmlformats.org/officeDocument/2006/relationships/image" Target="../media/image19.png"/><Relationship Id="rId10" Type="http://schemas.openxmlformats.org/officeDocument/2006/relationships/customXml" Target="../ink/ink5.xml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1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4EC47A-A84B-1F8E-E188-35DA4AF28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704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it-IT" b="1" dirty="0" err="1">
                <a:latin typeface="Arial Black" panose="020B0A04020102020204" pitchFamily="34" charset="0"/>
              </a:rPr>
              <a:t>Linguistic</a:t>
            </a:r>
            <a:r>
              <a:rPr lang="it-IT" b="1" dirty="0">
                <a:latin typeface="Arial Black" panose="020B0A04020102020204" pitchFamily="34" charset="0"/>
              </a:rPr>
              <a:t> Pipeline EEG</a:t>
            </a:r>
            <a:br>
              <a:rPr lang="it-IT" b="1" dirty="0">
                <a:latin typeface="Arial Black" panose="020B0A04020102020204" pitchFamily="34" charset="0"/>
              </a:rPr>
            </a:br>
            <a:endParaRPr lang="it-IT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2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2C996-CA5F-81B9-8523-43D70506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Phonetic</a:t>
            </a:r>
            <a:r>
              <a:rPr lang="it-IT" b="1" dirty="0"/>
              <a:t> Level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FA616C-B9F3-B9C8-B812-218FAD866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Forced alignment of audio transcription using </a:t>
            </a:r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webMAUS</a:t>
            </a:r>
            <a:r>
              <a:rPr lang="en-US" b="1" dirty="0"/>
              <a:t>, </a:t>
            </a:r>
            <a:r>
              <a:rPr lang="en-US" b="1" dirty="0" err="1"/>
              <a:t>followrd</a:t>
            </a:r>
            <a:r>
              <a:rPr lang="en-US" b="1" dirty="0"/>
              <a:t> by manual verification with </a:t>
            </a:r>
            <a:r>
              <a:rPr lang="en-US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Praat</a:t>
            </a:r>
            <a:endParaRPr lang="en-US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it-IT" dirty="0">
                <a:hlinkClick r:id="rId2"/>
              </a:rPr>
              <a:t>https://clarin.phonetik.uni-muenchen.de/BASWebServices/interface/TextAlign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Features:</a:t>
            </a:r>
          </a:p>
          <a:p>
            <a:pPr>
              <a:buFontTx/>
              <a:buChar char="-"/>
            </a:pPr>
            <a:r>
              <a:rPr lang="it-IT" dirty="0" err="1"/>
              <a:t>Phoneme</a:t>
            </a:r>
            <a:r>
              <a:rPr lang="it-IT" dirty="0"/>
              <a:t> </a:t>
            </a:r>
            <a:r>
              <a:rPr lang="it-IT" dirty="0" err="1"/>
              <a:t>onset</a:t>
            </a:r>
            <a:endParaRPr lang="it-IT" dirty="0"/>
          </a:p>
          <a:p>
            <a:pPr>
              <a:buFontTx/>
              <a:buChar char="-"/>
            </a:pPr>
            <a:r>
              <a:rPr lang="it-IT" dirty="0" err="1"/>
              <a:t>Phoneme</a:t>
            </a:r>
            <a:r>
              <a:rPr lang="it-IT" dirty="0"/>
              <a:t> offset</a:t>
            </a:r>
          </a:p>
          <a:p>
            <a:pPr>
              <a:buFontTx/>
              <a:buChar char="-"/>
            </a:pPr>
            <a:r>
              <a:rPr lang="it-IT" dirty="0"/>
              <a:t>Token </a:t>
            </a:r>
            <a:r>
              <a:rPr lang="it-IT" dirty="0" err="1"/>
              <a:t>onset</a:t>
            </a:r>
            <a:endParaRPr lang="it-IT" dirty="0"/>
          </a:p>
          <a:p>
            <a:pPr>
              <a:buFontTx/>
              <a:buChar char="-"/>
            </a:pPr>
            <a:r>
              <a:rPr lang="it-IT" dirty="0"/>
              <a:t>Token offset</a:t>
            </a:r>
          </a:p>
          <a:p>
            <a:pPr>
              <a:buFontTx/>
              <a:buChar char="-"/>
            </a:pPr>
            <a:r>
              <a:rPr lang="it-IT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Additional</a:t>
            </a:r>
            <a:r>
              <a:rPr lang="it-IT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features ?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7485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47875-39D5-ABF2-D98F-7B566554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Pre</a:t>
            </a:r>
            <a:r>
              <a:rPr lang="it-IT" b="1" dirty="0"/>
              <a:t>-processing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9A4408-3E68-89FA-9DF0-08405658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en-US" b="1" dirty="0"/>
              <a:t>Text Tokenization</a:t>
            </a:r>
            <a:br>
              <a:rPr lang="en-US" b="1" dirty="0"/>
            </a:br>
            <a:r>
              <a:rPr lang="en-US" dirty="0"/>
              <a:t>The content in </a:t>
            </a:r>
            <a:r>
              <a:rPr lang="en-US" b="1" dirty="0"/>
              <a:t>.txt </a:t>
            </a:r>
            <a:r>
              <a:rPr lang="en-US" dirty="0"/>
              <a:t>format is processed and segmented into individual linguistic units (</a:t>
            </a:r>
            <a:r>
              <a:rPr lang="en-US" b="1" dirty="0"/>
              <a:t>tokens</a:t>
            </a:r>
            <a:r>
              <a:rPr lang="en-US" dirty="0"/>
              <a:t>). Each token is stored on a separate row within the dataset</a:t>
            </a:r>
            <a:r>
              <a:rPr lang="it-IT" dirty="0"/>
              <a:t>.</a:t>
            </a:r>
            <a:br>
              <a:rPr lang="it-IT" dirty="0"/>
            </a:br>
            <a:endParaRPr lang="it-IT" dirty="0"/>
          </a:p>
          <a:p>
            <a:pPr marL="514350" indent="-514350">
              <a:buAutoNum type="arabicParenBoth"/>
            </a:pPr>
            <a:r>
              <a:rPr lang="en-US" b="1" dirty="0"/>
              <a:t>Punctuation removal</a:t>
            </a:r>
            <a:br>
              <a:rPr lang="en-US" b="1" dirty="0"/>
            </a:br>
            <a:r>
              <a:rPr lang="en-US" dirty="0"/>
              <a:t>In this step, punctuation can be removed from the text.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48826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BB02AB7-96D1-FCD5-7293-457038C3C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73" y="192933"/>
            <a:ext cx="8960310" cy="2254366"/>
          </a:xfrm>
          <a:prstGeom prst="rect">
            <a:avLst/>
          </a:prstGeom>
        </p:spPr>
      </p:pic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238E7B9D-57AB-64C2-F06D-9DA94079C6C6}"/>
              </a:ext>
            </a:extLst>
          </p:cNvPr>
          <p:cNvCxnSpPr>
            <a:cxnSpLocks/>
          </p:cNvCxnSpPr>
          <p:nvPr/>
        </p:nvCxnSpPr>
        <p:spPr>
          <a:xfrm>
            <a:off x="2715768" y="2670048"/>
            <a:ext cx="1362456" cy="7589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>
            <a:extLst>
              <a:ext uri="{FF2B5EF4-FFF2-40B4-BE49-F238E27FC236}">
                <a16:creationId xmlns:a16="http://schemas.microsoft.com/office/drawing/2014/main" id="{1C5FD02C-0E7D-6817-4213-332EDF9BA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086" y="2214175"/>
            <a:ext cx="7597052" cy="439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2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AE7153-4DEC-0664-76B3-B77C55AB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Lexical</a:t>
            </a:r>
            <a:r>
              <a:rPr lang="it-IT" b="1" dirty="0"/>
              <a:t> Level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80134F-2DA4-8C47-FE97-B537E31FF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Both"/>
            </a:pPr>
            <a:r>
              <a:rPr lang="it-IT" b="1" dirty="0"/>
              <a:t>Lemma </a:t>
            </a:r>
            <a:r>
              <a:rPr lang="it-IT" b="1" dirty="0" err="1"/>
              <a:t>Extraction</a:t>
            </a:r>
            <a:endParaRPr lang="it-IT" b="1" dirty="0"/>
          </a:p>
          <a:p>
            <a:pPr marL="0" indent="0">
              <a:buNone/>
            </a:pPr>
            <a:r>
              <a:rPr lang="en-US" dirty="0"/>
              <a:t>Lemmatization reduces words to their base or dictionary form, helping unify variations like ‘</a:t>
            </a:r>
            <a:r>
              <a:rPr lang="en-US" dirty="0" err="1"/>
              <a:t>vado</a:t>
            </a:r>
            <a:r>
              <a:rPr lang="en-US" dirty="0"/>
              <a:t>’, ‘</a:t>
            </a:r>
            <a:r>
              <a:rPr lang="en-US" dirty="0" err="1"/>
              <a:t>andai</a:t>
            </a:r>
            <a:r>
              <a:rPr lang="en-US" dirty="0"/>
              <a:t>’, and ‘</a:t>
            </a:r>
            <a:r>
              <a:rPr lang="en-US" dirty="0" err="1"/>
              <a:t>andato</a:t>
            </a:r>
            <a:r>
              <a:rPr lang="en-US" dirty="0"/>
              <a:t>’ into ‘</a:t>
            </a:r>
            <a:r>
              <a:rPr lang="en-US" dirty="0" err="1"/>
              <a:t>andare</a:t>
            </a:r>
            <a:r>
              <a:rPr lang="en-US" dirty="0"/>
              <a:t>’.</a:t>
            </a:r>
          </a:p>
          <a:p>
            <a:pPr marL="0" indent="0">
              <a:buNone/>
            </a:pPr>
            <a:r>
              <a:rPr lang="en-US" dirty="0"/>
              <a:t>Lemmatization is useful for </a:t>
            </a:r>
            <a:r>
              <a:rPr lang="en-US" b="1" dirty="0"/>
              <a:t>topic modeling</a:t>
            </a:r>
            <a:r>
              <a:rPr lang="en-US" dirty="0"/>
              <a:t>, </a:t>
            </a:r>
            <a:r>
              <a:rPr lang="en-US" b="1" dirty="0"/>
              <a:t>frequency analysis</a:t>
            </a:r>
            <a:r>
              <a:rPr lang="en-US" dirty="0"/>
              <a:t>, and improving </a:t>
            </a:r>
            <a:r>
              <a:rPr lang="en-US" b="1" dirty="0"/>
              <a:t>Named Entity Recognition (NER).</a:t>
            </a:r>
            <a:endParaRPr lang="it-IT" b="1" dirty="0"/>
          </a:p>
          <a:p>
            <a:pPr marL="0" indent="0">
              <a:buNone/>
            </a:pPr>
            <a:endParaRPr lang="it-IT" b="1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E3A10821-3095-0514-2EC9-6EA08BD9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59890"/>
          <a:stretch>
            <a:fillRect/>
          </a:stretch>
        </p:blipFill>
        <p:spPr>
          <a:xfrm>
            <a:off x="4309344" y="4484442"/>
            <a:ext cx="6554255" cy="20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2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BAB31A42-6D77-DAF9-7F66-15A5E829D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703" y="1528876"/>
            <a:ext cx="8516121" cy="510967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5A93D55E-0456-94E1-6EB8-3C7A21B9CC36}"/>
              </a:ext>
            </a:extLst>
          </p:cNvPr>
          <p:cNvSpPr txBox="1"/>
          <p:nvPr/>
        </p:nvSpPr>
        <p:spPr>
          <a:xfrm>
            <a:off x="284988" y="328547"/>
            <a:ext cx="11475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thanks to lemmatization we can observe the distribution of words in a text and highlight </a:t>
            </a:r>
            <a:r>
              <a:rPr lang="en-US" sz="2400" b="1" dirty="0"/>
              <a:t>Zipf’s</a:t>
            </a:r>
            <a:r>
              <a:rPr lang="en-US" sz="2400" dirty="0"/>
              <a:t> empirical law, which shows that a few words occur very frequently while the vast majority appear only rarely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08608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1487B7-C521-283E-4323-B27D8F99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Syntactic</a:t>
            </a:r>
            <a:r>
              <a:rPr lang="it-IT" b="1" dirty="0"/>
              <a:t> Level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C7919C-502E-EBC9-DF00-1A1F1FEC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it-IT" b="1" dirty="0" err="1"/>
              <a:t>PoS</a:t>
            </a:r>
            <a:r>
              <a:rPr lang="it-IT" b="1" dirty="0"/>
              <a:t> </a:t>
            </a:r>
            <a:r>
              <a:rPr lang="it-IT" b="1" i="1" dirty="0"/>
              <a:t>(Part-of-Speech) </a:t>
            </a:r>
            <a:r>
              <a:rPr lang="it-IT" b="1" dirty="0"/>
              <a:t>Tagging </a:t>
            </a:r>
            <a:r>
              <a:rPr lang="en-US" dirty="0"/>
              <a:t>is the process of automatically assigning each word in a text its grammatical category, such as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noun</a:t>
            </a:r>
            <a:r>
              <a:rPr lang="en-US" dirty="0"/>
              <a:t>,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verb</a:t>
            </a:r>
            <a:r>
              <a:rPr lang="en-US" dirty="0"/>
              <a:t>,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adjective</a:t>
            </a:r>
            <a:r>
              <a:rPr lang="en-US" dirty="0"/>
              <a:t>, or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adverb</a:t>
            </a:r>
            <a:r>
              <a:rPr lang="en-US" dirty="0"/>
              <a:t>.</a:t>
            </a:r>
            <a:endParaRPr lang="it-IT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9FA62B1-907A-7D81-42B1-D452CEC5E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91"/>
          <a:stretch>
            <a:fillRect/>
          </a:stretch>
        </p:blipFill>
        <p:spPr>
          <a:xfrm>
            <a:off x="2839068" y="3255264"/>
            <a:ext cx="6378083" cy="31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1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4315713-E7CE-8959-FB5F-657F33CA0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8" b="12485"/>
          <a:stretch>
            <a:fillRect/>
          </a:stretch>
        </p:blipFill>
        <p:spPr>
          <a:xfrm>
            <a:off x="787828" y="3172968"/>
            <a:ext cx="4245915" cy="35216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8E850FA-E844-C3D2-C476-584D7E85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967" y="3172967"/>
            <a:ext cx="6445380" cy="3521612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67E2A18-7009-EDC3-FEFC-AC5A7701D763}"/>
              </a:ext>
            </a:extLst>
          </p:cNvPr>
          <p:cNvSpPr txBox="1"/>
          <p:nvPr/>
        </p:nvSpPr>
        <p:spPr>
          <a:xfrm>
            <a:off x="679323" y="510323"/>
            <a:ext cx="108333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Both" startAt="2"/>
            </a:pPr>
            <a:r>
              <a:rPr lang="it-IT" sz="2000" b="1" dirty="0" err="1"/>
              <a:t>Syntatctic</a:t>
            </a:r>
            <a:r>
              <a:rPr lang="it-IT" sz="2000" b="1" dirty="0"/>
              <a:t> </a:t>
            </a:r>
            <a:r>
              <a:rPr lang="it-IT" sz="2000" b="1" dirty="0" err="1"/>
              <a:t>structure</a:t>
            </a:r>
            <a:r>
              <a:rPr lang="it-IT" sz="2000" b="1" dirty="0"/>
              <a:t> of </a:t>
            </a:r>
            <a:r>
              <a:rPr lang="it-IT" sz="2000" b="1" dirty="0" err="1"/>
              <a:t>sentence</a:t>
            </a:r>
            <a:r>
              <a:rPr lang="it-IT" sz="2000" b="1" dirty="0"/>
              <a:t>:</a:t>
            </a:r>
            <a:br>
              <a:rPr lang="it-IT" sz="2000" b="1" dirty="0"/>
            </a:br>
            <a:endParaRPr lang="it-IT" sz="2000" b="1" dirty="0"/>
          </a:p>
          <a:p>
            <a:pPr>
              <a:buFontTx/>
              <a:buChar char="-"/>
            </a:pPr>
            <a:r>
              <a:rPr lang="it-IT" sz="2000" b="1" dirty="0" err="1"/>
              <a:t>Dependency</a:t>
            </a:r>
            <a:r>
              <a:rPr lang="it-IT" sz="2000" b="1" dirty="0"/>
              <a:t> </a:t>
            </a:r>
            <a:r>
              <a:rPr lang="it-IT" sz="2000" b="1" dirty="0" err="1"/>
              <a:t>parsing</a:t>
            </a:r>
            <a:r>
              <a:rPr lang="it-IT" sz="2000" b="1" dirty="0"/>
              <a:t> </a:t>
            </a:r>
            <a:r>
              <a:rPr lang="en-US" sz="2000" dirty="0"/>
              <a:t>analyzes the grammatical structure of a sentence by identifying relationships  of dependence between words. Each word is linked to a ‘</a:t>
            </a:r>
            <a:r>
              <a:rPr lang="en-US" sz="2000" u="sng" dirty="0"/>
              <a:t>head</a:t>
            </a:r>
            <a:r>
              <a:rPr lang="en-US" sz="2000" dirty="0"/>
              <a:t>’ that governs it. This approach highlights who depends on whom in the sentence.</a:t>
            </a:r>
            <a:br>
              <a:rPr lang="en-US" sz="2000" dirty="0"/>
            </a:br>
            <a:endParaRPr lang="en-US" sz="2000" dirty="0"/>
          </a:p>
          <a:p>
            <a:pPr>
              <a:buFontTx/>
              <a:buChar char="-"/>
            </a:pPr>
            <a:r>
              <a:rPr lang="it-IT" sz="2000" b="1" dirty="0"/>
              <a:t> Constituency </a:t>
            </a:r>
            <a:r>
              <a:rPr lang="it-IT" sz="2000" b="1" dirty="0" err="1"/>
              <a:t>parsing</a:t>
            </a:r>
            <a:r>
              <a:rPr lang="it-IT" sz="2000" b="1" dirty="0"/>
              <a:t> </a:t>
            </a:r>
            <a:r>
              <a:rPr lang="it-IT" sz="2000" dirty="0"/>
              <a:t>breaks a </a:t>
            </a:r>
            <a:r>
              <a:rPr lang="it-IT" sz="2000" dirty="0" err="1"/>
              <a:t>sentence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 err="1"/>
              <a:t>phrases</a:t>
            </a:r>
            <a:r>
              <a:rPr lang="it-IT" sz="2000" dirty="0"/>
              <a:t> or </a:t>
            </a:r>
            <a:r>
              <a:rPr lang="it-IT" sz="2000" dirty="0" err="1"/>
              <a:t>consituents</a:t>
            </a:r>
            <a:r>
              <a:rPr lang="it-IT" sz="2000" dirty="0"/>
              <a:t>, </a:t>
            </a:r>
            <a:r>
              <a:rPr lang="it-IT" sz="2000" dirty="0" err="1"/>
              <a:t>such</a:t>
            </a:r>
            <a:r>
              <a:rPr lang="it-IT" sz="2000" dirty="0"/>
              <a:t> </a:t>
            </a:r>
            <a:r>
              <a:rPr lang="it-IT" sz="2000" dirty="0" err="1"/>
              <a:t>as</a:t>
            </a:r>
            <a:r>
              <a:rPr lang="it-IT" sz="2000" dirty="0"/>
              <a:t> nous </a:t>
            </a:r>
            <a:r>
              <a:rPr lang="it-IT" sz="2000" dirty="0" err="1"/>
              <a:t>phrase</a:t>
            </a:r>
            <a:r>
              <a:rPr lang="it-IT" sz="2000" dirty="0"/>
              <a:t> (NP), </a:t>
            </a:r>
            <a:r>
              <a:rPr lang="it-IT" sz="2000" dirty="0" err="1"/>
              <a:t>verb</a:t>
            </a:r>
            <a:r>
              <a:rPr lang="it-IT" sz="2000" dirty="0"/>
              <a:t> </a:t>
            </a:r>
            <a:r>
              <a:rPr lang="it-IT" sz="2000" dirty="0" err="1"/>
              <a:t>phrase</a:t>
            </a:r>
            <a:r>
              <a:rPr lang="it-IT" sz="2000" dirty="0"/>
              <a:t> (VP) and </a:t>
            </a:r>
            <a:r>
              <a:rPr lang="it-IT" sz="2000" dirty="0" err="1"/>
              <a:t>prepositional</a:t>
            </a:r>
            <a:r>
              <a:rPr lang="it-IT" sz="2000" dirty="0"/>
              <a:t> </a:t>
            </a:r>
            <a:r>
              <a:rPr lang="it-IT" sz="2000" dirty="0" err="1"/>
              <a:t>phrases</a:t>
            </a:r>
            <a:r>
              <a:rPr lang="it-IT" sz="2000" dirty="0"/>
              <a:t> (PP). The </a:t>
            </a:r>
            <a:r>
              <a:rPr lang="it-IT" sz="2000" dirty="0" err="1"/>
              <a:t>result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a </a:t>
            </a:r>
            <a:r>
              <a:rPr lang="it-IT" sz="2000" u="sng" dirty="0" err="1"/>
              <a:t>hierarchical</a:t>
            </a:r>
            <a:r>
              <a:rPr lang="it-IT" sz="2000" dirty="0"/>
              <a:t> </a:t>
            </a:r>
            <a:r>
              <a:rPr lang="it-IT" sz="2000" dirty="0" err="1"/>
              <a:t>tree</a:t>
            </a:r>
            <a:r>
              <a:rPr lang="it-IT" sz="2000" dirty="0"/>
              <a:t>.</a:t>
            </a: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381747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27EEC03-6067-01A8-58A8-B9A31532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359" y="958475"/>
            <a:ext cx="7411813" cy="495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ED9A913-0616-0175-23C8-98B3FC167936}"/>
              </a:ext>
            </a:extLst>
          </p:cNvPr>
          <p:cNvSpPr txBox="1"/>
          <p:nvPr/>
        </p:nvSpPr>
        <p:spPr>
          <a:xfrm>
            <a:off x="950976" y="457200"/>
            <a:ext cx="75246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Python Library = </a:t>
            </a:r>
            <a:r>
              <a:rPr lang="it-IT" sz="2000" b="1" dirty="0"/>
              <a:t>STANZA </a:t>
            </a:r>
            <a:r>
              <a:rPr lang="it-IT" sz="2000" b="1" dirty="0">
                <a:hlinkClick r:id="rId3"/>
              </a:rPr>
              <a:t>https://stanfordnlp.github.io/stanza/</a:t>
            </a:r>
            <a:r>
              <a:rPr lang="it-IT" sz="2000" b="1" dirty="0"/>
              <a:t>  </a:t>
            </a:r>
            <a:endParaRPr lang="it-IT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ADDEA89F-4781-8303-68F9-4397E5FF059C}"/>
                  </a:ext>
                </a:extLst>
              </p14:cNvPr>
              <p14:cNvContentPartPr/>
              <p14:nvPr/>
            </p14:nvContentPartPr>
            <p14:xfrm>
              <a:off x="4797345" y="2035668"/>
              <a:ext cx="2305440" cy="10152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ADDEA89F-4781-8303-68F9-4397E5FF05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3345" y="1928028"/>
                <a:ext cx="24130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DAFA2A8D-CD84-8B50-5E28-3F8EC30EC6E3}"/>
                  </a:ext>
                </a:extLst>
              </p14:cNvPr>
              <p14:cNvContentPartPr/>
              <p14:nvPr/>
            </p14:nvContentPartPr>
            <p14:xfrm>
              <a:off x="4857645" y="4720812"/>
              <a:ext cx="2184840" cy="56160"/>
            </p14:xfrm>
          </p:contentPart>
        </mc:Choice>
        <mc:Fallback xmlns=""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DAFA2A8D-CD84-8B50-5E28-3F8EC30EC6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03645" y="4613172"/>
                <a:ext cx="2292480" cy="2718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26C8D3-47B3-1F25-3DCE-10CFBD191BF3}"/>
              </a:ext>
            </a:extLst>
          </p:cNvPr>
          <p:cNvSpPr txBox="1"/>
          <p:nvPr/>
        </p:nvSpPr>
        <p:spPr>
          <a:xfrm>
            <a:off x="636417" y="1275738"/>
            <a:ext cx="38393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</a:t>
            </a:r>
            <a:r>
              <a:rPr lang="en-US" sz="2000" b="1" dirty="0"/>
              <a:t>MWT processor</a:t>
            </a:r>
            <a:r>
              <a:rPr lang="en-US" sz="2000" dirty="0"/>
              <a:t> in Stanza handles </a:t>
            </a:r>
            <a:r>
              <a:rPr lang="en-US" sz="2000" i="1" dirty="0"/>
              <a:t>multi‑word tokens</a:t>
            </a:r>
            <a:r>
              <a:rPr lang="en-US" sz="2000" dirty="0"/>
              <a:t>, which are single surface forms that actually correspond to multiple underlying words (</a:t>
            </a:r>
            <a:r>
              <a:rPr lang="en-US" sz="2000" i="1" dirty="0" err="1"/>
              <a:t>della</a:t>
            </a:r>
            <a:r>
              <a:rPr lang="en-US" sz="2000" i="1" dirty="0"/>
              <a:t> = ‘di + la’)</a:t>
            </a:r>
            <a:endParaRPr lang="en-US" sz="20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A1ADB5C-99D5-2A38-9125-B8B85BFF59C3}"/>
              </a:ext>
            </a:extLst>
          </p:cNvPr>
          <p:cNvSpPr txBox="1"/>
          <p:nvPr/>
        </p:nvSpPr>
        <p:spPr>
          <a:xfrm>
            <a:off x="667723" y="3429000"/>
            <a:ext cx="38393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Named Entity Recognition (NER) </a:t>
            </a:r>
            <a:r>
              <a:rPr lang="en-US" sz="2000" dirty="0"/>
              <a:t>identifies and classifies proper names, locations, dates, or numerical values. For instance, in the sentence </a:t>
            </a:r>
            <a:r>
              <a:rPr lang="en-US" sz="2000" i="1" dirty="0"/>
              <a:t>“Barack Obama was born in Hawaii”</a:t>
            </a:r>
            <a:r>
              <a:rPr lang="en-US" sz="2000" dirty="0"/>
              <a:t>, NER labels </a:t>
            </a:r>
            <a:r>
              <a:rPr lang="en-US" sz="2000" i="1" dirty="0"/>
              <a:t>“Barack Obama”</a:t>
            </a:r>
            <a:r>
              <a:rPr lang="en-US" sz="2000" dirty="0"/>
              <a:t> as a Person and </a:t>
            </a:r>
            <a:r>
              <a:rPr lang="en-US" sz="2000" i="1" dirty="0"/>
              <a:t>“Hawaii”</a:t>
            </a:r>
            <a:r>
              <a:rPr lang="en-US" sz="2000" dirty="0"/>
              <a:t> as a Location</a:t>
            </a:r>
          </a:p>
        </p:txBody>
      </p:sp>
    </p:spTree>
    <p:extLst>
      <p:ext uri="{BB962C8B-B14F-4D97-AF65-F5344CB8AC3E}">
        <p14:creationId xmlns:p14="http://schemas.microsoft.com/office/powerpoint/2010/main" val="1547534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BB9AC2-EAB6-5C10-FEF4-541A6D72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SURPRISAL - LLM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F7A43D1-0AD2-429C-E051-4147F36E8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064" y="1735686"/>
            <a:ext cx="5038774" cy="117219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595B6D7-8BFF-3D5F-9146-3F3573184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305" y="1888089"/>
            <a:ext cx="5838615" cy="108008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D58AFAE-974F-0FEF-0102-170795593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612" y="3263326"/>
            <a:ext cx="6103446" cy="28243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135F6A64-C349-0E7E-F7AD-3921AA51A0FD}"/>
                  </a:ext>
                </a:extLst>
              </p14:cNvPr>
              <p14:cNvContentPartPr/>
              <p14:nvPr/>
            </p14:nvContentPartPr>
            <p14:xfrm>
              <a:off x="1794387" y="2793613"/>
              <a:ext cx="771480" cy="4140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135F6A64-C349-0E7E-F7AD-3921AA51A0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0747" y="2685973"/>
                <a:ext cx="8791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put penna 14">
                <a:extLst>
                  <a:ext uri="{FF2B5EF4-FFF2-40B4-BE49-F238E27FC236}">
                    <a16:creationId xmlns:a16="http://schemas.microsoft.com/office/drawing/2014/main" id="{4088DA82-B278-C5BB-8D14-CA4B70B2D8E3}"/>
                  </a:ext>
                </a:extLst>
              </p14:cNvPr>
              <p14:cNvContentPartPr/>
              <p14:nvPr/>
            </p14:nvContentPartPr>
            <p14:xfrm>
              <a:off x="4645047" y="5868103"/>
              <a:ext cx="712440" cy="49320"/>
            </p14:xfrm>
          </p:contentPart>
        </mc:Choice>
        <mc:Fallback xmlns="">
          <p:pic>
            <p:nvPicPr>
              <p:cNvPr id="15" name="Input penna 14">
                <a:extLst>
                  <a:ext uri="{FF2B5EF4-FFF2-40B4-BE49-F238E27FC236}">
                    <a16:creationId xmlns:a16="http://schemas.microsoft.com/office/drawing/2014/main" id="{4088DA82-B278-C5BB-8D14-CA4B70B2D8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91047" y="5760103"/>
                <a:ext cx="8200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8D320797-5FC8-1E01-AE2D-D0B5749A4B5B}"/>
                  </a:ext>
                </a:extLst>
              </p14:cNvPr>
              <p14:cNvContentPartPr/>
              <p14:nvPr/>
            </p14:nvContentPartPr>
            <p14:xfrm>
              <a:off x="7611267" y="2759773"/>
              <a:ext cx="693720" cy="3420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8D320797-5FC8-1E01-AE2D-D0B5749A4B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57627" y="2651773"/>
                <a:ext cx="8013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4DD333AA-9858-EC87-1CF5-F4115821C0CF}"/>
                  </a:ext>
                </a:extLst>
              </p14:cNvPr>
              <p14:cNvContentPartPr/>
              <p14:nvPr/>
            </p14:nvContentPartPr>
            <p14:xfrm>
              <a:off x="10303707" y="2248573"/>
              <a:ext cx="284040" cy="3600"/>
            </p14:xfrm>
          </p:contentPart>
        </mc:Choice>
        <mc:Fallback xmlns=""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4DD333AA-9858-EC87-1CF5-F4115821C0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49707" y="2140573"/>
                <a:ext cx="3916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22925D5A-DFD3-4E64-306F-4263E2677EE7}"/>
                  </a:ext>
                </a:extLst>
              </p14:cNvPr>
              <p14:cNvContentPartPr/>
              <p14:nvPr/>
            </p14:nvContentPartPr>
            <p14:xfrm>
              <a:off x="4622907" y="2243533"/>
              <a:ext cx="378360" cy="360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22925D5A-DFD3-4E64-306F-4263E2677E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68907" y="2135893"/>
                <a:ext cx="48600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C179A83A-BE9E-043D-53DE-094C74B30715}"/>
                  </a:ext>
                </a:extLst>
              </p14:cNvPr>
              <p14:cNvContentPartPr/>
              <p14:nvPr/>
            </p14:nvContentPartPr>
            <p14:xfrm>
              <a:off x="5325267" y="3814558"/>
              <a:ext cx="261720" cy="1764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C179A83A-BE9E-043D-53DE-094C74B307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71341" y="3704308"/>
                <a:ext cx="369212" cy="2377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967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510B73A-E5D2-BEBF-9C07-AB84A25C1487}"/>
              </a:ext>
            </a:extLst>
          </p:cNvPr>
          <p:cNvSpPr txBox="1"/>
          <p:nvPr/>
        </p:nvSpPr>
        <p:spPr>
          <a:xfrm>
            <a:off x="2514598" y="1161977"/>
            <a:ext cx="270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/>
              <a:t>surprisal</a:t>
            </a:r>
            <a:endParaRPr lang="it-IT" sz="2800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8B1D51C-C114-F586-48C4-8FBE9A36621E}"/>
              </a:ext>
            </a:extLst>
          </p:cNvPr>
          <p:cNvSpPr txBox="1"/>
          <p:nvPr/>
        </p:nvSpPr>
        <p:spPr>
          <a:xfrm>
            <a:off x="1490131" y="3336723"/>
            <a:ext cx="270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N400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DF78D9-DBA0-E7E7-85EE-93D5513AEE4E}"/>
              </a:ext>
            </a:extLst>
          </p:cNvPr>
          <p:cNvSpPr txBox="1"/>
          <p:nvPr/>
        </p:nvSpPr>
        <p:spPr>
          <a:xfrm>
            <a:off x="7213598" y="731090"/>
            <a:ext cx="2700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Semantic (</a:t>
            </a:r>
            <a:r>
              <a:rPr lang="it-IT" sz="2800" b="1" dirty="0" err="1"/>
              <a:t>dis</a:t>
            </a:r>
            <a:r>
              <a:rPr lang="it-IT" sz="2800" b="1" dirty="0"/>
              <a:t>)</a:t>
            </a:r>
            <a:r>
              <a:rPr lang="it-IT" sz="2800" b="1" dirty="0" err="1"/>
              <a:t>similarity</a:t>
            </a:r>
            <a:endParaRPr lang="it-IT" sz="2800" b="1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5159261-CE95-B05F-75A8-E58802B80EF0}"/>
              </a:ext>
            </a:extLst>
          </p:cNvPr>
          <p:cNvSpPr txBox="1"/>
          <p:nvPr/>
        </p:nvSpPr>
        <p:spPr>
          <a:xfrm>
            <a:off x="5325531" y="4823000"/>
            <a:ext cx="2700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/>
              <a:t>Predictive</a:t>
            </a:r>
            <a:r>
              <a:rPr lang="it-IT" sz="2800" b="1" dirty="0"/>
              <a:t> brain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DCAB273-F656-FB5F-75E2-BA5C3FE59A24}"/>
              </a:ext>
            </a:extLst>
          </p:cNvPr>
          <p:cNvSpPr txBox="1"/>
          <p:nvPr/>
        </p:nvSpPr>
        <p:spPr>
          <a:xfrm>
            <a:off x="9080497" y="4084338"/>
            <a:ext cx="270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/>
              <a:t>entropy</a:t>
            </a:r>
            <a:endParaRPr lang="it-IT" sz="2800" b="1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1F38E2-90F9-F7C8-E08E-09AA7D46A359}"/>
              </a:ext>
            </a:extLst>
          </p:cNvPr>
          <p:cNvSpPr txBox="1"/>
          <p:nvPr/>
        </p:nvSpPr>
        <p:spPr>
          <a:xfrm>
            <a:off x="4190998" y="2849012"/>
            <a:ext cx="3517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Continous</a:t>
            </a:r>
            <a:r>
              <a:rPr lang="it-IT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Speech </a:t>
            </a:r>
            <a:r>
              <a:rPr lang="it-IT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Comprehension</a:t>
            </a:r>
            <a:endParaRPr lang="it-IT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it-IT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223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B615A1-544E-43B6-37FC-03D6613B9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9533"/>
                <a:ext cx="10515600" cy="5677430"/>
              </a:xfrm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pPr>
                  <a:buFont typeface="Symbol" panose="05050102010706020507" pitchFamily="18" charset="2"/>
                  <a:buChar char=""/>
                </a:pPr>
                <a:r>
                  <a:rPr lang="it-IT" dirty="0"/>
                  <a:t> </a:t>
                </a:r>
                <a:r>
                  <a:rPr lang="it-IT" b="1" dirty="0" err="1"/>
                  <a:t>surprisal</a:t>
                </a:r>
                <a:r>
                  <a:rPr lang="it-IT" b="1" dirty="0"/>
                  <a:t> </a:t>
                </a:r>
                <a:r>
                  <a:rPr lang="en-US" dirty="0"/>
                  <a:t>measures how </a:t>
                </a:r>
                <a:r>
                  <a:rPr lang="en-US" u="sng" dirty="0"/>
                  <a:t>unexpected</a:t>
                </a:r>
                <a:r>
                  <a:rPr lang="en-US" dirty="0"/>
                  <a:t> a word is given its preceding context.</a:t>
                </a:r>
              </a:p>
              <a:p>
                <a:pPr marL="457200" lvl="1" indent="0">
                  <a:buNone/>
                </a:pPr>
                <a:r>
                  <a:rPr lang="en-US" b="1" i="1" dirty="0">
                    <a:sym typeface="Wingdings" panose="05000000000000000000" pitchFamily="2" charset="2"/>
                  </a:rPr>
                  <a:t> </a:t>
                </a:r>
                <a:r>
                  <a:rPr lang="en-US" b="1" i="1" dirty="0"/>
                  <a:t>The lower the probability of a word, the higher its surprisal</a:t>
                </a:r>
              </a:p>
              <a:p>
                <a:pPr marL="0" indent="0">
                  <a:buNone/>
                </a:pPr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𝑺𝒖𝒓𝒑𝒓𝒊𝒔𝒂𝒍</m:t>
                      </m:r>
                      <m:r>
                        <a:rPr lang="it-IT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it-IT" b="1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func>
                        <m:funcPr>
                          <m:ctrlP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endChr m:val="|"/>
                              <m:ctrlP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b="1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1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it-IT" b="1" i="1">
                                      <a:solidFill>
                                        <a:schemeClr val="tx2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it-IT" b="1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it-IT" b="1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it-IT" b="1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it-IT" b="1" dirty="0"/>
              </a:p>
              <a:p>
                <a:pPr>
                  <a:buFont typeface="Symbol" panose="05050102010706020507" pitchFamily="18" charset="2"/>
                  <a:buChar char=""/>
                </a:pPr>
                <a:r>
                  <a:rPr lang="it-IT" b="1" dirty="0" err="1"/>
                  <a:t>entropy</a:t>
                </a:r>
                <a:r>
                  <a:rPr lang="it-IT" b="1" dirty="0"/>
                  <a:t> </a:t>
                </a:r>
                <a:r>
                  <a:rPr lang="en-US" dirty="0"/>
                  <a:t>quantifies the uncertainty over possible next words </a:t>
                </a:r>
              </a:p>
              <a:p>
                <a:pPr lvl="1">
                  <a:buFont typeface="Wingdings" panose="05000000000000000000" pitchFamily="2" charset="2"/>
                  <a:buChar char="à"/>
                </a:pPr>
                <a:r>
                  <a:rPr lang="en-US" b="1" i="1" dirty="0">
                    <a:sym typeface="Wingdings" panose="05000000000000000000" pitchFamily="2" charset="2"/>
                  </a:rPr>
                  <a:t>h</a:t>
                </a:r>
                <a:r>
                  <a:rPr lang="en-US" b="1" i="1" dirty="0"/>
                  <a:t>igh entropy means many plausible continuations; low entropy means the next word is more predictable</a:t>
                </a:r>
              </a:p>
              <a:p>
                <a:pPr marL="457200" lvl="1" indent="0">
                  <a:buNone/>
                </a:pPr>
                <a:endParaRPr lang="it-IT" b="1" i="1" dirty="0"/>
              </a:p>
              <a:p>
                <a:pPr marL="0" indent="0" algn="ctr">
                  <a:buNone/>
                </a:pPr>
                <a:r>
                  <a:rPr lang="it-IT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it-IT" b="1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=− </m:t>
                    </m:r>
                    <m:nary>
                      <m:naryPr>
                        <m:chr m:val="∑"/>
                        <m:supHide m:val="on"/>
                        <m:ctrlP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𝑿</m:t>
                        </m:r>
                      </m:sub>
                      <m:sup/>
                      <m:e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1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it-IT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t-IT" b="1" i="0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it-IT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  <m:r>
                              <a:rPr lang="it-IT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it-IT" b="1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it-IT" b="1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0B615A1-544E-43B6-37FC-03D6613B9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9533"/>
                <a:ext cx="10515600" cy="5677430"/>
              </a:xfrm>
              <a:blipFill>
                <a:blip r:embed="rId2"/>
                <a:stretch>
                  <a:fillRect l="-1158" t="-2251" r="-1332"/>
                </a:stretch>
              </a:blipFill>
              <a:ln>
                <a:solidFill>
                  <a:schemeClr val="bg1">
                    <a:lumMod val="8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CDAA56C5-CFA0-FD72-62EF-E2563F52E6F4}"/>
              </a:ext>
            </a:extLst>
          </p:cNvPr>
          <p:cNvSpPr txBox="1">
            <a:spLocks/>
          </p:cNvSpPr>
          <p:nvPr/>
        </p:nvSpPr>
        <p:spPr>
          <a:xfrm>
            <a:off x="838200" y="499533"/>
            <a:ext cx="10515600" cy="61226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Symbol" panose="05050102010706020507" pitchFamily="18" charset="2"/>
              <a:buChar char=""/>
            </a:pPr>
            <a:r>
              <a:rPr lang="it-IT" dirty="0"/>
              <a:t> </a:t>
            </a:r>
            <a:r>
              <a:rPr lang="en-US" b="1" dirty="0"/>
              <a:t>Semantic similarity </a:t>
            </a:r>
            <a:r>
              <a:rPr lang="en-US" dirty="0"/>
              <a:t>measures how close in meaning two words, phrases, or sentences are.</a:t>
            </a:r>
          </a:p>
          <a:p>
            <a:pPr marL="0" indent="0">
              <a:buNone/>
            </a:pPr>
            <a:r>
              <a:rPr lang="en-US" dirty="0"/>
              <a:t>T</a:t>
            </a:r>
            <a:r>
              <a:rPr lang="it-IT" dirty="0" err="1"/>
              <a:t>wo</a:t>
            </a:r>
            <a:r>
              <a:rPr lang="it-IT" dirty="0"/>
              <a:t> words or </a:t>
            </a:r>
            <a:r>
              <a:rPr lang="it-IT" dirty="0" err="1"/>
              <a:t>sentences</a:t>
            </a:r>
            <a:r>
              <a:rPr lang="it-IT" dirty="0"/>
              <a:t> are </a:t>
            </a:r>
            <a:r>
              <a:rPr lang="it-IT" dirty="0" err="1"/>
              <a:t>represented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b="1" dirty="0" err="1"/>
              <a:t>vectors</a:t>
            </a:r>
            <a:r>
              <a:rPr lang="it-IT" dirty="0"/>
              <a:t> \</a:t>
            </a:r>
            <a:r>
              <a:rPr lang="it-IT" dirty="0" err="1"/>
              <a:t>vec</a:t>
            </a:r>
            <a:r>
              <a:rPr lang="it-IT" dirty="0"/>
              <a:t>{A} and \</a:t>
            </a:r>
            <a:r>
              <a:rPr lang="it-IT" dirty="0" err="1"/>
              <a:t>vec</a:t>
            </a:r>
            <a:r>
              <a:rPr lang="it-IT" dirty="0"/>
              <a:t>{B} in a </a:t>
            </a:r>
            <a:r>
              <a:rPr lang="it-IT" b="1" dirty="0"/>
              <a:t>semantic </a:t>
            </a:r>
            <a:r>
              <a:rPr lang="it-IT" b="1" dirty="0" err="1"/>
              <a:t>space</a:t>
            </a:r>
            <a:r>
              <a:rPr lang="it-IT" b="1" dirty="0"/>
              <a:t> </a:t>
            </a:r>
            <a:r>
              <a:rPr lang="it-IT" dirty="0"/>
              <a:t>(e.g., from </a:t>
            </a:r>
            <a:r>
              <a:rPr lang="it-IT" i="1" dirty="0"/>
              <a:t>word </a:t>
            </a:r>
            <a:r>
              <a:rPr lang="it-IT" i="1" dirty="0" err="1"/>
              <a:t>embeddings</a:t>
            </a:r>
            <a:r>
              <a:rPr lang="it-IT" i="1" dirty="0"/>
              <a:t> </a:t>
            </a:r>
            <a:r>
              <a:rPr lang="it-IT" dirty="0"/>
              <a:t>like Word2Vec, </a:t>
            </a:r>
            <a:r>
              <a:rPr lang="it-IT" dirty="0" err="1"/>
              <a:t>GloVe</a:t>
            </a:r>
            <a:r>
              <a:rPr lang="it-IT" dirty="0"/>
              <a:t>, or </a:t>
            </a:r>
            <a:r>
              <a:rPr lang="it-IT" i="1" dirty="0" err="1"/>
              <a:t>contextual</a:t>
            </a:r>
            <a:r>
              <a:rPr lang="it-IT" i="1" dirty="0"/>
              <a:t> </a:t>
            </a:r>
            <a:r>
              <a:rPr lang="it-IT" i="1" dirty="0" err="1"/>
              <a:t>embeddings</a:t>
            </a:r>
            <a:r>
              <a:rPr lang="it-IT" i="1" dirty="0"/>
              <a:t> </a:t>
            </a:r>
            <a:r>
              <a:rPr lang="it-IT" dirty="0"/>
              <a:t>like BERT),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obtain</a:t>
            </a:r>
            <a:r>
              <a:rPr lang="it-IT" dirty="0"/>
              <a:t> </a:t>
            </a:r>
            <a:r>
              <a:rPr lang="it-IT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Cosine </a:t>
            </a:r>
            <a:r>
              <a:rPr lang="it-IT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Similarity</a:t>
            </a:r>
            <a:endParaRPr lang="it-IT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it-IT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 typeface="Symbol" panose="05050102010706020507" pitchFamily="18" charset="2"/>
              <a:buChar char="-"/>
            </a:pPr>
            <a:r>
              <a:rPr lang="it-IT" b="1" dirty="0"/>
              <a:t> Semantic </a:t>
            </a:r>
            <a:r>
              <a:rPr lang="it-IT" b="1" dirty="0" err="1"/>
              <a:t>dissimilarity</a:t>
            </a:r>
            <a:r>
              <a:rPr lang="it-IT" b="1" dirty="0"/>
              <a:t>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in </a:t>
            </a:r>
            <a:r>
              <a:rPr lang="it-IT" dirty="0" err="1"/>
              <a:t>meaning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words, </a:t>
            </a:r>
            <a:r>
              <a:rPr lang="it-IT" dirty="0" err="1"/>
              <a:t>phrases</a:t>
            </a:r>
            <a:r>
              <a:rPr lang="it-IT" dirty="0"/>
              <a:t>, </a:t>
            </a:r>
            <a:r>
              <a:rPr lang="it-IT" dirty="0" err="1"/>
              <a:t>pr</a:t>
            </a:r>
            <a:r>
              <a:rPr lang="it-IT" dirty="0"/>
              <a:t> </a:t>
            </a:r>
            <a:r>
              <a:rPr lang="it-IT" dirty="0" err="1"/>
              <a:t>sentence</a:t>
            </a:r>
            <a:r>
              <a:rPr lang="it-IT" dirty="0"/>
              <a:t> are.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reflects</a:t>
            </a:r>
            <a:r>
              <a:rPr lang="it-IT" dirty="0"/>
              <a:t> the degree to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theri</a:t>
            </a:r>
            <a:r>
              <a:rPr lang="it-IT" dirty="0"/>
              <a:t> concepts or </a:t>
            </a:r>
            <a:r>
              <a:rPr lang="it-IT" dirty="0" err="1"/>
              <a:t>contexts</a:t>
            </a:r>
            <a:r>
              <a:rPr lang="it-IT" dirty="0"/>
              <a:t> diverge. </a:t>
            </a:r>
            <a:r>
              <a:rPr lang="it-IT" dirty="0" err="1"/>
              <a:t>We</a:t>
            </a:r>
            <a:r>
              <a:rPr lang="it-IT" dirty="0"/>
              <a:t> can compute the </a:t>
            </a:r>
            <a:r>
              <a:rPr lang="it-IT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Cosine </a:t>
            </a:r>
            <a:r>
              <a:rPr lang="it-IT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Dissimilarity</a:t>
            </a:r>
            <a:r>
              <a:rPr lang="it-IT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it-IT" dirty="0" err="1"/>
              <a:t>using</a:t>
            </a:r>
            <a:r>
              <a:rPr lang="it-IT" dirty="0"/>
              <a:t> semantic </a:t>
            </a:r>
            <a:r>
              <a:rPr lang="it-IT" dirty="0" err="1"/>
              <a:t>vectors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b="1" dirty="0"/>
          </a:p>
          <a:p>
            <a:pPr marL="457200" lvl="1" indent="0">
              <a:buNone/>
            </a:pPr>
            <a:r>
              <a:rPr lang="it-IT" sz="2000" i="1" dirty="0" err="1"/>
              <a:t>There</a:t>
            </a:r>
            <a:r>
              <a:rPr lang="it-IT" sz="2000" i="1" dirty="0"/>
              <a:t> are </a:t>
            </a:r>
            <a:r>
              <a:rPr lang="it-IT" sz="2000" i="1" dirty="0" err="1"/>
              <a:t>also</a:t>
            </a:r>
            <a:r>
              <a:rPr lang="it-IT" sz="2000" i="1" dirty="0"/>
              <a:t> </a:t>
            </a:r>
            <a:r>
              <a:rPr lang="it-IT" sz="2000" i="1" dirty="0" err="1"/>
              <a:t>other</a:t>
            </a:r>
            <a:r>
              <a:rPr lang="it-IT" sz="2000" i="1" dirty="0"/>
              <a:t> </a:t>
            </a:r>
            <a:r>
              <a:rPr lang="it-IT" sz="2000" i="1" dirty="0" err="1"/>
              <a:t>measures</a:t>
            </a:r>
            <a:r>
              <a:rPr lang="it-IT" sz="2000" i="1" dirty="0"/>
              <a:t> to compute the </a:t>
            </a:r>
            <a:r>
              <a:rPr lang="it-IT" sz="2000" i="1" dirty="0" err="1"/>
              <a:t>distance</a:t>
            </a:r>
            <a:r>
              <a:rPr lang="it-IT" sz="2000" i="1" dirty="0"/>
              <a:t> </a:t>
            </a:r>
            <a:r>
              <a:rPr lang="it-IT" sz="2000" i="1" dirty="0" err="1"/>
              <a:t>within</a:t>
            </a:r>
            <a:r>
              <a:rPr lang="it-IT" sz="2000" i="1" dirty="0"/>
              <a:t> </a:t>
            </a:r>
            <a:r>
              <a:rPr lang="it-IT" sz="2000" i="1" dirty="0" err="1"/>
              <a:t>two</a:t>
            </a:r>
            <a:r>
              <a:rPr lang="it-IT" sz="2000" i="1" dirty="0"/>
              <a:t> or more </a:t>
            </a:r>
            <a:r>
              <a:rPr lang="it-IT" sz="2000" i="1" dirty="0" err="1"/>
              <a:t>vectors</a:t>
            </a:r>
            <a:r>
              <a:rPr lang="it-IT" sz="2000" i="1" dirty="0"/>
              <a:t>.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91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E17A58-1E3B-C8CD-7890-5CEE9835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LLM – </a:t>
            </a:r>
            <a:r>
              <a:rPr lang="it-IT" b="1" dirty="0" err="1"/>
              <a:t>Probability</a:t>
            </a:r>
            <a:r>
              <a:rPr lang="it-IT" b="1" dirty="0"/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F2ED55-51F1-FB8D-9A81-33322EFC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70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Transformer models (GPT, BERT, T5, etc.) have been trained as </a:t>
            </a:r>
            <a:r>
              <a:rPr lang="en-US" b="1" i="1" dirty="0"/>
              <a:t>language models</a:t>
            </a:r>
            <a:r>
              <a:rPr lang="en-US" dirty="0"/>
              <a:t>. This means they have been trained on </a:t>
            </a:r>
            <a:r>
              <a:rPr lang="en-US" u="sng" dirty="0"/>
              <a:t>large amounts </a:t>
            </a:r>
            <a:r>
              <a:rPr lang="en-US" dirty="0"/>
              <a:t>of raw text in a self-supervised fashion (</a:t>
            </a:r>
            <a:r>
              <a:rPr lang="en-US" dirty="0">
                <a:sym typeface="Wingdings" panose="05000000000000000000" pitchFamily="2" charset="2"/>
              </a:rPr>
              <a:t> Large Language Model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This type of model develops a </a:t>
            </a:r>
            <a:r>
              <a:rPr lang="en-US" b="1" dirty="0"/>
              <a:t>statistical understanding </a:t>
            </a:r>
            <a:r>
              <a:rPr lang="en-US" dirty="0"/>
              <a:t>of the language it has been trained on.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09046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CB2DF93-357D-A140-2F18-ECBCC9D45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253331"/>
            <a:ext cx="7122695" cy="435133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B7C6A41-CB65-CF1C-9720-3F07767339A8}"/>
              </a:ext>
            </a:extLst>
          </p:cNvPr>
          <p:cNvSpPr txBox="1"/>
          <p:nvPr/>
        </p:nvSpPr>
        <p:spPr>
          <a:xfrm>
            <a:off x="5428648" y="567891"/>
            <a:ext cx="562115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Transformer architecture consists of two main blocks: an </a:t>
            </a:r>
            <a:r>
              <a:rPr lang="en-US" b="1" dirty="0"/>
              <a:t>encoder</a:t>
            </a:r>
            <a:r>
              <a:rPr lang="en-US" dirty="0"/>
              <a:t> and a </a:t>
            </a:r>
            <a:r>
              <a:rPr lang="en-US" b="1" dirty="0"/>
              <a:t>decoder</a:t>
            </a:r>
            <a:r>
              <a:rPr lang="en-US" dirty="0"/>
              <a:t>, originally designed for </a:t>
            </a:r>
            <a:r>
              <a:rPr lang="en-US" b="1" dirty="0"/>
              <a:t>machine translation</a:t>
            </a:r>
            <a:r>
              <a:rPr lang="en-US" dirty="0"/>
              <a:t>. The </a:t>
            </a:r>
            <a:r>
              <a:rPr lang="en-US" b="1" dirty="0"/>
              <a:t>encoder</a:t>
            </a:r>
            <a:r>
              <a:rPr lang="en-US" dirty="0"/>
              <a:t>, used in models like </a:t>
            </a:r>
            <a:r>
              <a:rPr lang="en-US" b="1" dirty="0"/>
              <a:t>BERT</a:t>
            </a:r>
            <a:r>
              <a:rPr lang="en-US" dirty="0"/>
              <a:t>, reads the </a:t>
            </a:r>
            <a:r>
              <a:rPr lang="en-US" b="1" dirty="0"/>
              <a:t>entire input sentence at once</a:t>
            </a:r>
            <a:r>
              <a:rPr lang="en-US" dirty="0"/>
              <a:t> and is </a:t>
            </a:r>
            <a:r>
              <a:rPr lang="en-US" b="1" dirty="0"/>
              <a:t>non-causal</a:t>
            </a:r>
            <a:r>
              <a:rPr lang="en-US" dirty="0"/>
              <a:t>, meaning it can look both forward and backward in the sentence. It’s trained on tasks like </a:t>
            </a:r>
            <a:r>
              <a:rPr lang="en-US" b="1" dirty="0"/>
              <a:t>masked language modeling</a:t>
            </a:r>
            <a:r>
              <a:rPr lang="en-US" dirty="0"/>
              <a:t>, where some words are hidden (e.g., </a:t>
            </a:r>
            <a:r>
              <a:rPr lang="en-US" i="1" dirty="0"/>
              <a:t>“La [MASK] è </a:t>
            </a:r>
            <a:r>
              <a:rPr lang="en-US" i="1" dirty="0" err="1"/>
              <a:t>matura</a:t>
            </a:r>
            <a:r>
              <a:rPr lang="en-US" i="1" dirty="0"/>
              <a:t>”</a:t>
            </a:r>
            <a:r>
              <a:rPr lang="en-US" dirty="0"/>
              <a:t>) and the model learns to predict the missing word (</a:t>
            </a:r>
            <a:r>
              <a:rPr lang="en-US" i="1" dirty="0"/>
              <a:t>“</a:t>
            </a:r>
            <a:r>
              <a:rPr lang="en-US" i="1" dirty="0" err="1"/>
              <a:t>pesca</a:t>
            </a:r>
            <a:r>
              <a:rPr lang="en-US" i="1" dirty="0"/>
              <a:t>”</a:t>
            </a:r>
            <a:r>
              <a:rPr lang="en-US" dirty="0"/>
              <a:t>). This makes it ideal for </a:t>
            </a:r>
            <a:r>
              <a:rPr lang="en-US" b="1" dirty="0"/>
              <a:t>text classification</a:t>
            </a:r>
            <a:r>
              <a:rPr lang="en-US" dirty="0"/>
              <a:t>, </a:t>
            </a:r>
            <a:r>
              <a:rPr lang="en-US" b="1" dirty="0"/>
              <a:t>sentiment analysis</a:t>
            </a:r>
            <a:r>
              <a:rPr lang="en-US" dirty="0"/>
              <a:t>, and </a:t>
            </a:r>
            <a:r>
              <a:rPr lang="en-US" b="1" dirty="0"/>
              <a:t>question answering</a:t>
            </a:r>
            <a:r>
              <a:rPr lang="en-US" dirty="0"/>
              <a:t>. The </a:t>
            </a:r>
            <a:r>
              <a:rPr lang="en-US" b="1" dirty="0"/>
              <a:t>decoder</a:t>
            </a:r>
            <a:r>
              <a:rPr lang="en-US" dirty="0"/>
              <a:t>, used in models like </a:t>
            </a:r>
            <a:r>
              <a:rPr lang="en-US" b="1" dirty="0"/>
              <a:t>GPT</a:t>
            </a:r>
            <a:r>
              <a:rPr lang="en-US" dirty="0"/>
              <a:t>, is </a:t>
            </a:r>
            <a:r>
              <a:rPr lang="en-US" b="1" dirty="0"/>
              <a:t>causal</a:t>
            </a:r>
            <a:r>
              <a:rPr lang="en-US" dirty="0"/>
              <a:t> — it only sees the words </a:t>
            </a:r>
            <a:r>
              <a:rPr lang="en-US" b="1" dirty="0"/>
              <a:t>before</a:t>
            </a:r>
            <a:r>
              <a:rPr lang="en-US" dirty="0"/>
              <a:t> the current position. It’s trained on </a:t>
            </a:r>
            <a:r>
              <a:rPr lang="en-US" b="1" dirty="0"/>
              <a:t>causal language modeling</a:t>
            </a:r>
            <a:r>
              <a:rPr lang="en-US" dirty="0"/>
              <a:t>, where the model predicts the next word in a sequence (e.g., given </a:t>
            </a:r>
            <a:r>
              <a:rPr lang="en-US" i="1" dirty="0"/>
              <a:t>“La </a:t>
            </a:r>
            <a:r>
              <a:rPr lang="en-US" i="1" dirty="0" err="1"/>
              <a:t>pesca</a:t>
            </a:r>
            <a:r>
              <a:rPr lang="en-US" i="1" dirty="0"/>
              <a:t> è”</a:t>
            </a:r>
            <a:r>
              <a:rPr lang="en-US" dirty="0"/>
              <a:t>, it predicts </a:t>
            </a:r>
            <a:r>
              <a:rPr lang="en-US" i="1" dirty="0"/>
              <a:t>“</a:t>
            </a:r>
            <a:r>
              <a:rPr lang="en-US" i="1" dirty="0" err="1"/>
              <a:t>matura</a:t>
            </a:r>
            <a:r>
              <a:rPr lang="en-US" i="1" dirty="0"/>
              <a:t>”</a:t>
            </a:r>
            <a:r>
              <a:rPr lang="en-US" dirty="0"/>
              <a:t>). This setup is perfect for </a:t>
            </a:r>
            <a:r>
              <a:rPr lang="en-US" b="1" dirty="0"/>
              <a:t>text generation</a:t>
            </a:r>
            <a:r>
              <a:rPr lang="en-US" dirty="0"/>
              <a:t>, </a:t>
            </a:r>
            <a:r>
              <a:rPr lang="en-US" b="1" dirty="0"/>
              <a:t>summarization</a:t>
            </a:r>
            <a:r>
              <a:rPr lang="en-US" dirty="0"/>
              <a:t>, and </a:t>
            </a:r>
            <a:r>
              <a:rPr lang="en-US" b="1" dirty="0"/>
              <a:t>dialogue systems</a:t>
            </a:r>
            <a:r>
              <a:rPr lang="en-US" dirty="0"/>
              <a:t>. These two blocks can be used separately or combined depending on the task: encoders are great for understanding, decoders for generating.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32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C132-503B-3FCC-6CB6-DB24D7D8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D6243EA-CE4A-C9AC-9E0E-BA45A8D28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253331"/>
            <a:ext cx="7122695" cy="4351338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5AD80FF-0C2B-7453-56E3-24FA8BB51F96}"/>
              </a:ext>
            </a:extLst>
          </p:cNvPr>
          <p:cNvCxnSpPr>
            <a:cxnSpLocks/>
          </p:cNvCxnSpPr>
          <p:nvPr/>
        </p:nvCxnSpPr>
        <p:spPr>
          <a:xfrm>
            <a:off x="2152650" y="2571749"/>
            <a:ext cx="1494422" cy="29567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A9AFA8-5065-E558-7BCA-E1F2918E8590}"/>
              </a:ext>
            </a:extLst>
          </p:cNvPr>
          <p:cNvCxnSpPr>
            <a:cxnSpLocks/>
          </p:cNvCxnSpPr>
          <p:nvPr/>
        </p:nvCxnSpPr>
        <p:spPr>
          <a:xfrm flipH="1">
            <a:off x="2292391" y="2647950"/>
            <a:ext cx="1043489" cy="280431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16E00E01-E3D4-41DB-9C99-22816EB3144A}"/>
                  </a:ext>
                </a:extLst>
              </p14:cNvPr>
              <p14:cNvContentPartPr/>
              <p14:nvPr/>
            </p14:nvContentPartPr>
            <p14:xfrm>
              <a:off x="3790995" y="1447545"/>
              <a:ext cx="989640" cy="19080"/>
            </p14:xfrm>
          </p:contentPart>
        </mc:Choice>
        <mc:Fallback xmlns=""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16E00E01-E3D4-41DB-9C99-22816EB314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36995" y="1339905"/>
                <a:ext cx="1097280" cy="2347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A13BC7E-9B03-8D14-3BCB-82E3E060FE70}"/>
              </a:ext>
            </a:extLst>
          </p:cNvPr>
          <p:cNvSpPr txBox="1"/>
          <p:nvPr/>
        </p:nvSpPr>
        <p:spPr>
          <a:xfrm>
            <a:off x="6096000" y="1447545"/>
            <a:ext cx="4362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ym typeface="Wingdings" panose="05000000000000000000" pitchFamily="2" charset="2"/>
              </a:rPr>
              <a:t>We</a:t>
            </a:r>
            <a:r>
              <a:rPr lang="it-IT" dirty="0">
                <a:sym typeface="Wingdings" panose="05000000000000000000" pitchFamily="2" charset="2"/>
              </a:rPr>
              <a:t> can use </a:t>
            </a:r>
            <a:r>
              <a:rPr lang="it-IT" dirty="0" err="1">
                <a:sym typeface="Wingdings" panose="05000000000000000000" pitchFamily="2" charset="2"/>
              </a:rPr>
              <a:t>these</a:t>
            </a:r>
            <a:r>
              <a:rPr lang="it-IT" dirty="0">
                <a:sym typeface="Wingdings" panose="05000000000000000000" pitchFamily="2" charset="2"/>
              </a:rPr>
              <a:t> output </a:t>
            </a:r>
            <a:r>
              <a:rPr lang="it-IT" dirty="0" err="1">
                <a:sym typeface="Wingdings" panose="05000000000000000000" pitchFamily="2" charset="2"/>
              </a:rPr>
              <a:t>probabilities</a:t>
            </a:r>
            <a:r>
              <a:rPr lang="it-IT" dirty="0">
                <a:sym typeface="Wingdings" panose="05000000000000000000" pitchFamily="2" charset="2"/>
              </a:rPr>
              <a:t> to compute:</a:t>
            </a:r>
          </a:p>
          <a:p>
            <a:pPr marL="285750" indent="-285750">
              <a:buFontTx/>
              <a:buChar char="-"/>
            </a:pPr>
            <a:r>
              <a:rPr lang="it-IT" dirty="0" err="1">
                <a:sym typeface="Wingdings" panose="05000000000000000000" pitchFamily="2" charset="2"/>
              </a:rPr>
              <a:t>Lexical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surprisal</a:t>
            </a:r>
            <a:endParaRPr lang="it-IT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it-IT" dirty="0" err="1">
                <a:sym typeface="Wingdings" panose="05000000000000000000" pitchFamily="2" charset="2"/>
              </a:rPr>
              <a:t>Syntactic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surprisal</a:t>
            </a:r>
            <a:r>
              <a:rPr lang="it-IT" dirty="0">
                <a:sym typeface="Wingdings" panose="05000000000000000000" pitchFamily="2" charset="2"/>
              </a:rPr>
              <a:t> (</a:t>
            </a:r>
            <a:r>
              <a:rPr lang="it-IT" dirty="0" err="1">
                <a:sym typeface="Wingdings" panose="05000000000000000000" pitchFamily="2" charset="2"/>
              </a:rPr>
              <a:t>PoS</a:t>
            </a:r>
            <a:r>
              <a:rPr lang="it-IT" dirty="0">
                <a:sym typeface="Wingdings" panose="05000000000000000000" pitchFamily="2" charset="2"/>
              </a:rPr>
              <a:t>)</a:t>
            </a:r>
          </a:p>
          <a:p>
            <a:pPr marL="285750" indent="-285750">
              <a:buFontTx/>
              <a:buChar char="-"/>
            </a:pPr>
            <a:endParaRPr lang="it-IT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it-IT" b="1" dirty="0">
                <a:sym typeface="Wingdings" panose="05000000000000000000" pitchFamily="2" charset="2"/>
              </a:rPr>
              <a:t>Semantic </a:t>
            </a:r>
            <a:r>
              <a:rPr lang="it-IT" b="1" dirty="0" err="1">
                <a:sym typeface="Wingdings" panose="05000000000000000000" pitchFamily="2" charset="2"/>
              </a:rPr>
              <a:t>surprisal</a:t>
            </a:r>
            <a:r>
              <a:rPr lang="it-IT" b="1" dirty="0">
                <a:sym typeface="Wingdings" panose="05000000000000000000" pitchFamily="2" charset="2"/>
              </a:rPr>
              <a:t>? </a:t>
            </a:r>
            <a:r>
              <a:rPr lang="it-IT" b="1" dirty="0" err="1">
                <a:sym typeface="Wingdings" panose="05000000000000000000" pitchFamily="2" charset="2"/>
              </a:rPr>
              <a:t>We</a:t>
            </a:r>
            <a:r>
              <a:rPr lang="it-IT" b="1" dirty="0">
                <a:sym typeface="Wingdings" panose="05000000000000000000" pitchFamily="2" charset="2"/>
              </a:rPr>
              <a:t> </a:t>
            </a:r>
            <a:r>
              <a:rPr lang="it-IT" b="1" dirty="0" err="1">
                <a:sym typeface="Wingdings" panose="05000000000000000000" pitchFamily="2" charset="2"/>
              </a:rPr>
              <a:t>need</a:t>
            </a:r>
            <a:r>
              <a:rPr lang="it-IT" b="1" dirty="0">
                <a:sym typeface="Wingdings" panose="05000000000000000000" pitchFamily="2" charset="2"/>
              </a:rPr>
              <a:t> to use </a:t>
            </a:r>
            <a:r>
              <a:rPr lang="it-IT" b="1" dirty="0" err="1">
                <a:sym typeface="Wingdings" panose="05000000000000000000" pitchFamily="2" charset="2"/>
              </a:rPr>
              <a:t>contexutal</a:t>
            </a:r>
            <a:r>
              <a:rPr lang="it-IT" b="1" dirty="0">
                <a:sym typeface="Wingdings" panose="05000000000000000000" pitchFamily="2" charset="2"/>
              </a:rPr>
              <a:t> word </a:t>
            </a:r>
            <a:r>
              <a:rPr lang="it-IT" b="1" dirty="0" err="1">
                <a:sym typeface="Wingdings" panose="05000000000000000000" pitchFamily="2" charset="2"/>
              </a:rPr>
              <a:t>embedding</a:t>
            </a:r>
            <a:r>
              <a:rPr lang="it-IT" b="1" dirty="0">
                <a:sym typeface="Wingdings" panose="05000000000000000000" pitchFamily="2" charset="2"/>
              </a:rPr>
              <a:t> from an Encoder model like BERT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603473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4981</TotalTime>
  <Words>910</Words>
  <Application>Microsoft Office PowerPoint</Application>
  <PresentationFormat>Widescreen</PresentationFormat>
  <Paragraphs>62</Paragraphs>
  <Slides>16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Cambria Math</vt:lpstr>
      <vt:lpstr>Symbol</vt:lpstr>
      <vt:lpstr>Wingdings</vt:lpstr>
      <vt:lpstr>Tema di Office</vt:lpstr>
      <vt:lpstr>Linguistic Pipeline EEG </vt:lpstr>
      <vt:lpstr>Phonetic Level</vt:lpstr>
      <vt:lpstr>Pre-processing </vt:lpstr>
      <vt:lpstr>Presentazione standard di PowerPoint</vt:lpstr>
      <vt:lpstr>Lexical Level</vt:lpstr>
      <vt:lpstr>Presentazione standard di PowerPoint</vt:lpstr>
      <vt:lpstr>Syntactic Level</vt:lpstr>
      <vt:lpstr>Presentazione standard di PowerPoint</vt:lpstr>
      <vt:lpstr>Presentazione standard di PowerPoint</vt:lpstr>
      <vt:lpstr>SURPRISAL - LLM</vt:lpstr>
      <vt:lpstr>Presentazione standard di PowerPoint</vt:lpstr>
      <vt:lpstr>Presentazione standard di PowerPoint</vt:lpstr>
      <vt:lpstr>Presentazione standard di PowerPoint</vt:lpstr>
      <vt:lpstr>LLM – Probability 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Francesca Schiavone - francesca.schiavon10@studio.unibo.it</dc:creator>
  <cp:lastModifiedBy>Francesca Schiavone - francesca.schiavon10@studio.unibo.it</cp:lastModifiedBy>
  <cp:revision>13</cp:revision>
  <dcterms:created xsi:type="dcterms:W3CDTF">2025-09-15T15:41:33Z</dcterms:created>
  <dcterms:modified xsi:type="dcterms:W3CDTF">2025-09-24T16:23:46Z</dcterms:modified>
</cp:coreProperties>
</file>